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BF22F-8E15-7A30-5B94-50CCC3BB6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C6903C-341F-3D2C-3D6D-FF90418A4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89FEE-AFC4-C314-C7CC-79BF62C77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74C4E-DDB2-4553-9095-11D8B7E3D65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A8C31-13CC-4D7F-CD77-4ABD47AE1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F7A4B-F77D-BA1F-621B-0129DF56B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7A38-8F5D-4BC3-B432-EF35C2233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724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6A4E2-7E35-8AAA-9A60-1D98C4746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07CD2-6732-8BDF-E948-4974538BF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1CD83-38F3-EF39-569F-F5A2EA64A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74C4E-DDB2-4553-9095-11D8B7E3D65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A7E8A-F761-E3FE-2E51-CBBD9A316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E9335-732B-A1BF-8CF7-247AED639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7A38-8F5D-4BC3-B432-EF35C2233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473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AF93D-330F-E5A6-9A29-4B300AA14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AB601-9FA3-4F07-2693-D0084052B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A461C-3738-0422-272A-EDD35483F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74C4E-DDB2-4553-9095-11D8B7E3D65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4F265-FA3C-3AE7-DAA8-BED8558A0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5165F-9042-4BB2-2279-C38D0251A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7A38-8F5D-4BC3-B432-EF35C2233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841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5BB61-9E8A-A9BF-3AB0-2BD31030C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0E55B-9230-A910-8986-D2E2EAE57A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E7FC74-C086-4E79-B304-6B9EDB91B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4F2270-A2E9-C723-CAE7-528132718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74C4E-DDB2-4553-9095-11D8B7E3D65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6B1691-2B0A-A306-B8D1-B38416F94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3B171-3BE8-2F74-8C30-50CE6E716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7A38-8F5D-4BC3-B432-EF35C2233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128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0D93D-8B7D-9071-3947-B5C345239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AD29B7-4CD0-7A7E-E691-53685FEB3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9877C7-0484-8091-C0EF-4C53BA36D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E8CA44-E4D1-77BF-B1AB-7E9BBE4A6C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D651C6-89BF-442A-3087-08BBB19B4A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6B9CE0-7938-6C48-6DE8-75C21F618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74C4E-DDB2-4553-9095-11D8B7E3D65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D569EE-8182-4130-F055-1D17CDF2D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470074-2A7A-808E-80D1-DBAE5156E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7A38-8F5D-4BC3-B432-EF35C2233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140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15F7C-82BC-A770-8848-DF0AEF94D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F6DF5-6623-B457-3D0B-C8A9F305E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74C4E-DDB2-4553-9095-11D8B7E3D65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D8C436-37F8-9532-73C6-7C538248E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A5F08F-E749-1E18-A854-926659611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7A38-8F5D-4BC3-B432-EF35C2233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146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101F70-17C7-B5F5-C4DB-3EEC2FA10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74C4E-DDB2-4553-9095-11D8B7E3D65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5BD23B-9BD0-D773-BB2E-F3A36BF81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6DD79-CD0E-E858-194F-D7FDC0612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7A38-8F5D-4BC3-B432-EF35C2233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572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EADA9-247D-FF02-B100-E58C56936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5EDE1-18D4-7DC6-700C-3417EA7D6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F8BE4D-A09B-8388-FB27-D80654C9C5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40882-1023-494C-CBCE-7DF701F03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74C4E-DDB2-4553-9095-11D8B7E3D65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4667C0-B9DE-1E40-F7A7-0D47556E1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8B029-905A-2229-E47B-6AD4A733C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7A38-8F5D-4BC3-B432-EF35C2233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899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DA6F1-3AFF-FB4D-770E-B3E637F23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96401B-4B2B-9687-0DBB-266523DAF6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71D12E-5753-BB33-996F-6AC376EA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18838-AC7B-6C69-5808-C0EC5562D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74C4E-DDB2-4553-9095-11D8B7E3D65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62F66-1417-929A-8283-D53134FE7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77911-9567-E5EA-A114-DCFE40153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7A38-8F5D-4BC3-B432-EF35C2233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0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F1423-F3D6-526C-A62A-6B99AA30F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1FBBA0-0018-7833-0CA4-19E50004CE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AABD4-DAA3-CC7D-CA4D-63C21FF35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74C4E-DDB2-4553-9095-11D8B7E3D65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16C9D-F1DC-7667-8AC7-795AAF49A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8A305-666D-E1CC-59AE-F03E82DFE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7A38-8F5D-4BC3-B432-EF35C2233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269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74DF5C-5781-8C16-E48D-BB311D8D9F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5501B4-286B-85A5-0099-BEAD948850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9C1C8-2144-CD70-50CF-CD003D19C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74C4E-DDB2-4553-9095-11D8B7E3D65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C55DC-B4A3-EAAD-A317-F8BE1636D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B9609-50DE-B1F5-4EE0-47E7A031B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7A38-8F5D-4BC3-B432-EF35C2233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539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88CD59-FD73-30AD-76CA-B82940856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D3C8D8-C04E-F5B8-A739-AEEFDF800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4DD2F-52F8-36B9-4B96-B75943D1CD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874C4E-DDB2-4553-9095-11D8B7E3D65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12455-5819-3912-F5F4-6AC605CD3E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547B9-9303-8AF9-05D8-12A83C0A38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A7A38-8F5D-4BC3-B432-EF35C2233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918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90D882-B58D-CEDC-98BD-B112210C8122}"/>
              </a:ext>
            </a:extLst>
          </p:cNvPr>
          <p:cNvSpPr txBox="1"/>
          <p:nvPr/>
        </p:nvSpPr>
        <p:spPr>
          <a:xfrm>
            <a:off x="1992086" y="319092"/>
            <a:ext cx="7990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Quantum Random Number Generator with Noise Analysis and Fairness Checks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CE8D6B-AB58-1B59-177B-E0C88691E58F}"/>
              </a:ext>
            </a:extLst>
          </p:cNvPr>
          <p:cNvSpPr txBox="1"/>
          <p:nvPr/>
        </p:nvSpPr>
        <p:spPr>
          <a:xfrm>
            <a:off x="522514" y="1305342"/>
            <a:ext cx="11223172" cy="4661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dirty="0"/>
              <a:t>This project is my Hackathon 2025 submission: a </a:t>
            </a:r>
            <a:r>
              <a:rPr lang="en-US" sz="2000" b="1" dirty="0"/>
              <a:t>Quantum Random Number Generator (QRNG)</a:t>
            </a:r>
            <a:r>
              <a:rPr lang="en-US" sz="2000" dirty="0"/>
              <a:t> built using </a:t>
            </a:r>
            <a:r>
              <a:rPr lang="en-US" sz="2000" b="1" dirty="0" err="1"/>
              <a:t>Qiskit</a:t>
            </a:r>
            <a:r>
              <a:rPr lang="en-US" sz="2000" dirty="0"/>
              <a:t>, with a focus on generating </a:t>
            </a:r>
            <a:r>
              <a:rPr lang="en-US" sz="2000" i="1" dirty="0"/>
              <a:t>truly quantum</a:t>
            </a:r>
            <a:r>
              <a:rPr lang="en-US" sz="2000" dirty="0"/>
              <a:t> random numbers and analyzing how </a:t>
            </a:r>
            <a:r>
              <a:rPr lang="en-US" sz="2000" b="1" dirty="0"/>
              <a:t>noise</a:t>
            </a:r>
            <a:r>
              <a:rPr lang="en-US" sz="2000" dirty="0"/>
              <a:t> affects randomness and fairness.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/>
              <a:t>Classical random number generators are usually </a:t>
            </a:r>
            <a:r>
              <a:rPr lang="en-US" sz="2000" b="1" dirty="0"/>
              <a:t>pseudo-random</a:t>
            </a:r>
            <a:r>
              <a:rPr lang="en-US" sz="2000" dirty="0"/>
              <a:t>. They use deterministic algorithms, so in principle their outputs can be predicted if the internal state or seed is known. In contrast, this project uses </a:t>
            </a:r>
            <a:r>
              <a:rPr lang="en-US" sz="2000" b="1" dirty="0"/>
              <a:t>quantum superposition and measurement</a:t>
            </a:r>
            <a:r>
              <a:rPr lang="en-US" sz="2000" dirty="0"/>
              <a:t> to generate outcomes that are fundamentally unpredictable. Each run of the circuit prepares qubits in a superposition using </a:t>
            </a:r>
            <a:r>
              <a:rPr lang="en-US" sz="2000" b="1" dirty="0"/>
              <a:t>Hadamard (H) gates</a:t>
            </a:r>
            <a:r>
              <a:rPr lang="en-US" sz="2000" dirty="0"/>
              <a:t>, measures them, and directly uses the </a:t>
            </a:r>
            <a:r>
              <a:rPr lang="en-US" sz="2000" b="1" dirty="0"/>
              <a:t>measured bitstring as the random output</a:t>
            </a:r>
            <a:r>
              <a:rPr lang="en-US" sz="2000" dirty="0"/>
              <a:t>, without adding an extra classical </a:t>
            </a:r>
            <a:r>
              <a:rPr lang="en-US" sz="2000" dirty="0">
                <a:latin typeface="Courier New" panose="02070309020205020404" pitchFamily="49" charset="0"/>
              </a:rPr>
              <a:t>.random()</a:t>
            </a:r>
            <a:r>
              <a:rPr lang="en-US" sz="2000" dirty="0"/>
              <a:t> step. This ensures that the number is truly </a:t>
            </a:r>
            <a:r>
              <a:rPr lang="en-US" sz="2000" i="1" dirty="0"/>
              <a:t>quantumly</a:t>
            </a:r>
            <a:r>
              <a:rPr lang="en-US" sz="2000" dirty="0"/>
              <a:t> random, not just classically selected from simulated data.</a:t>
            </a:r>
          </a:p>
        </p:txBody>
      </p:sp>
    </p:spTree>
    <p:extLst>
      <p:ext uri="{BB962C8B-B14F-4D97-AF65-F5344CB8AC3E}">
        <p14:creationId xmlns:p14="http://schemas.microsoft.com/office/powerpoint/2010/main" val="2610405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90943F-8FEF-1707-7DAA-246535EDD2BC}"/>
              </a:ext>
            </a:extLst>
          </p:cNvPr>
          <p:cNvSpPr txBox="1"/>
          <p:nvPr/>
        </p:nvSpPr>
        <p:spPr>
          <a:xfrm>
            <a:off x="283029" y="612845"/>
            <a:ext cx="11255828" cy="5584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dirty="0"/>
              <a:t>The QRNG is designed to be flexible in the </a:t>
            </a:r>
            <a:r>
              <a:rPr lang="en-US" sz="2000" b="1" dirty="0"/>
              <a:t>number of qubits</a:t>
            </a:r>
            <a:r>
              <a:rPr lang="en-US" sz="2000" dirty="0"/>
              <a:t> and </a:t>
            </a:r>
            <a:r>
              <a:rPr lang="en-US" sz="2000" b="1" dirty="0"/>
              <a:t>number of outcomes</a:t>
            </a:r>
            <a:r>
              <a:rPr lang="en-US" sz="2000" dirty="0"/>
              <a:t>. For example, with 3 qubits the circuit can generate 8 possible outcomes (000 to 111). These bitstrings are then mapped to integers, which can be used in cryptographic protocols, simulations, or simple demo applications.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/>
              <a:t>Beyond just generating one random number, the project also supports running the circuit for </a:t>
            </a:r>
            <a:r>
              <a:rPr lang="en-US" sz="2000" b="1" dirty="0"/>
              <a:t>multiple shots</a:t>
            </a:r>
            <a:r>
              <a:rPr lang="en-US" sz="2000" dirty="0"/>
              <a:t> to collect statistics. Using these counts, I analyze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how close the distribution is to </a:t>
            </a:r>
            <a:r>
              <a:rPr lang="en-US" sz="2000" b="1" dirty="0"/>
              <a:t>uniform</a:t>
            </a:r>
            <a:r>
              <a:rPr lang="en-US" sz="2000" dirty="0"/>
              <a:t>,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how </a:t>
            </a:r>
            <a:r>
              <a:rPr lang="en-US" sz="2000" b="1" dirty="0"/>
              <a:t>noise models</a:t>
            </a:r>
            <a:r>
              <a:rPr lang="en-US" sz="2000" dirty="0"/>
              <a:t> (simulated via </a:t>
            </a:r>
            <a:r>
              <a:rPr lang="en-US" sz="2000" dirty="0" err="1"/>
              <a:t>Qiskit</a:t>
            </a:r>
            <a:r>
              <a:rPr lang="en-US" sz="2000" dirty="0"/>
              <a:t> Aer) change the distribution, and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whether basic </a:t>
            </a:r>
            <a:r>
              <a:rPr lang="en-US" sz="2000" b="1" dirty="0"/>
              <a:t>error-mitigation strategies</a:t>
            </a:r>
            <a:r>
              <a:rPr lang="en-US" sz="2000" dirty="0"/>
              <a:t> can improve fairness.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/>
              <a:t>As a learning-oriented extension, I explore ideas like using </a:t>
            </a:r>
            <a:r>
              <a:rPr lang="en-US" sz="2000" b="1" dirty="0"/>
              <a:t>Bell states</a:t>
            </a:r>
            <a:r>
              <a:rPr lang="en-US" sz="2000" dirty="0"/>
              <a:t> and </a:t>
            </a:r>
            <a:r>
              <a:rPr lang="en-US" sz="2000" b="1" dirty="0"/>
              <a:t>entangled qubits</a:t>
            </a:r>
            <a:r>
              <a:rPr lang="en-US" sz="2000" dirty="0"/>
              <a:t> for randomness, comparing their output distribution with that of independent qubits in superposition. Overall, this project is both a working QRNG and a small </a:t>
            </a:r>
            <a:r>
              <a:rPr lang="en-US" sz="2000" b="1" dirty="0"/>
              <a:t>laboratory for studying quantum randomness, noise, and fairness</a:t>
            </a:r>
            <a:r>
              <a:rPr lang="en-US" sz="2000" dirty="0"/>
              <a:t> using </a:t>
            </a:r>
            <a:r>
              <a:rPr lang="en-US" sz="2000" dirty="0" err="1"/>
              <a:t>Qiskit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5608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7A14E9-4DA9-BFD7-2782-2DECB1EF6154}"/>
              </a:ext>
            </a:extLst>
          </p:cNvPr>
          <p:cNvSpPr txBox="1"/>
          <p:nvPr/>
        </p:nvSpPr>
        <p:spPr>
          <a:xfrm>
            <a:off x="936170" y="438167"/>
            <a:ext cx="870857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 err="1"/>
              <a:t>qiskit</a:t>
            </a:r>
            <a:r>
              <a:rPr lang="en-IN" sz="2000" dirty="0"/>
              <a:t>-true-</a:t>
            </a:r>
            <a:r>
              <a:rPr lang="en-IN" sz="2000" dirty="0" err="1"/>
              <a:t>qrng</a:t>
            </a:r>
            <a:r>
              <a:rPr lang="en-IN" sz="2000" dirty="0"/>
              <a:t>-</a:t>
            </a:r>
            <a:r>
              <a:rPr lang="en-IN" sz="2000" dirty="0" err="1"/>
              <a:t>sachin</a:t>
            </a:r>
            <a:r>
              <a:rPr lang="en-IN" sz="2000" dirty="0"/>
              <a:t>/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├── README.md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├── LICENSE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├── requirements.txt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└── </a:t>
            </a:r>
            <a:r>
              <a:rPr lang="en-IN" sz="2000" dirty="0" err="1"/>
              <a:t>qrng</a:t>
            </a:r>
            <a:r>
              <a:rPr lang="en-IN" sz="2000" dirty="0"/>
              <a:t>/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    ├── __init__.py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    ├── circuit.py       # build quantum circuits here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    ├── runner.py        # run circuits and return numbers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    └── analysis.py      # fairness &amp; noise analysis (optional)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72EB03-1669-3021-A5C6-B2EB1A7B7EEB}"/>
              </a:ext>
            </a:extLst>
          </p:cNvPr>
          <p:cNvSpPr txBox="1"/>
          <p:nvPr/>
        </p:nvSpPr>
        <p:spPr>
          <a:xfrm>
            <a:off x="936170" y="3834511"/>
            <a:ext cx="6096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Courier New" panose="02070309020205020404" pitchFamily="49" charset="0"/>
              </a:rPr>
              <a:t>circuit.py</a:t>
            </a:r>
            <a:r>
              <a:rPr lang="en-IN" sz="2000" b="1" dirty="0"/>
              <a:t> (concept)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Function: </a:t>
            </a:r>
            <a:r>
              <a:rPr lang="en-IN" sz="2000" dirty="0" err="1">
                <a:latin typeface="Courier New" panose="02070309020205020404" pitchFamily="49" charset="0"/>
              </a:rPr>
              <a:t>build_qrng_circuit</a:t>
            </a:r>
            <a:r>
              <a:rPr lang="en-IN" sz="2000" dirty="0">
                <a:latin typeface="Courier New" panose="02070309020205020404" pitchFamily="49" charset="0"/>
              </a:rPr>
              <a:t>(</a:t>
            </a:r>
            <a:r>
              <a:rPr lang="en-IN" sz="2000" dirty="0" err="1">
                <a:latin typeface="Courier New" panose="02070309020205020404" pitchFamily="49" charset="0"/>
              </a:rPr>
              <a:t>num_qubits</a:t>
            </a:r>
            <a:r>
              <a:rPr lang="en-IN" sz="2000" dirty="0">
                <a:latin typeface="Courier New" panose="02070309020205020404" pitchFamily="49" charset="0"/>
              </a:rPr>
              <a:t>: int)</a:t>
            </a:r>
            <a:endParaRPr lang="en-I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Create </a:t>
            </a:r>
            <a:r>
              <a:rPr lang="en-IN" sz="2000" dirty="0" err="1">
                <a:latin typeface="Courier New" panose="02070309020205020404" pitchFamily="49" charset="0"/>
              </a:rPr>
              <a:t>QuantumCircuit</a:t>
            </a:r>
            <a:r>
              <a:rPr lang="en-IN" sz="2000" dirty="0">
                <a:latin typeface="Courier New" panose="02070309020205020404" pitchFamily="49" charset="0"/>
              </a:rPr>
              <a:t>(</a:t>
            </a:r>
            <a:r>
              <a:rPr lang="en-IN" sz="2000" dirty="0" err="1">
                <a:latin typeface="Courier New" panose="02070309020205020404" pitchFamily="49" charset="0"/>
              </a:rPr>
              <a:t>num_qubits</a:t>
            </a:r>
            <a:r>
              <a:rPr lang="en-IN" sz="2000" dirty="0">
                <a:latin typeface="Courier New" panose="02070309020205020404" pitchFamily="49" charset="0"/>
              </a:rPr>
              <a:t>, </a:t>
            </a:r>
            <a:r>
              <a:rPr lang="en-IN" sz="2000" dirty="0" err="1">
                <a:latin typeface="Courier New" panose="02070309020205020404" pitchFamily="49" charset="0"/>
              </a:rPr>
              <a:t>num_qubits</a:t>
            </a:r>
            <a:r>
              <a:rPr lang="en-IN" sz="2000" dirty="0">
                <a:latin typeface="Courier New" panose="02070309020205020404" pitchFamily="49" charset="0"/>
              </a:rPr>
              <a:t>)</a:t>
            </a:r>
            <a:endParaRPr lang="en-I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Apply H to all qubits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Measure all qubits</a:t>
            </a:r>
          </a:p>
        </p:txBody>
      </p:sp>
    </p:spTree>
    <p:extLst>
      <p:ext uri="{BB962C8B-B14F-4D97-AF65-F5344CB8AC3E}">
        <p14:creationId xmlns:p14="http://schemas.microsoft.com/office/powerpoint/2010/main" val="3111824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C30A83-ABC8-1755-B1D5-955DDDE18B1E}"/>
              </a:ext>
            </a:extLst>
          </p:cNvPr>
          <p:cNvSpPr txBox="1"/>
          <p:nvPr/>
        </p:nvSpPr>
        <p:spPr>
          <a:xfrm>
            <a:off x="1077684" y="446314"/>
            <a:ext cx="9677401" cy="3276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Courier New" panose="02070309020205020404" pitchFamily="49" charset="0"/>
              </a:rPr>
              <a:t>runner.py</a:t>
            </a:r>
            <a:r>
              <a:rPr lang="en-IN" sz="2000" b="1" dirty="0"/>
              <a:t> (concept)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Function: </a:t>
            </a:r>
            <a:r>
              <a:rPr lang="en-IN" sz="2000" dirty="0" err="1">
                <a:latin typeface="Courier New" panose="02070309020205020404" pitchFamily="49" charset="0"/>
              </a:rPr>
              <a:t>run_qrng</a:t>
            </a:r>
            <a:r>
              <a:rPr lang="en-IN" sz="2000" dirty="0">
                <a:latin typeface="Courier New" panose="02070309020205020404" pitchFamily="49" charset="0"/>
              </a:rPr>
              <a:t>(</a:t>
            </a:r>
            <a:r>
              <a:rPr lang="en-IN" sz="2000" dirty="0" err="1">
                <a:latin typeface="Courier New" panose="02070309020205020404" pitchFamily="49" charset="0"/>
              </a:rPr>
              <a:t>num_qubits</a:t>
            </a:r>
            <a:r>
              <a:rPr lang="en-IN" sz="2000" dirty="0">
                <a:latin typeface="Courier New" panose="02070309020205020404" pitchFamily="49" charset="0"/>
              </a:rPr>
              <a:t>=3, backend="</a:t>
            </a:r>
            <a:r>
              <a:rPr lang="en-IN" sz="2000" dirty="0" err="1">
                <a:latin typeface="Courier New" panose="02070309020205020404" pitchFamily="49" charset="0"/>
              </a:rPr>
              <a:t>aer_simulator</a:t>
            </a:r>
            <a:r>
              <a:rPr lang="en-IN" sz="2000" dirty="0">
                <a:latin typeface="Courier New" panose="02070309020205020404" pitchFamily="49" charset="0"/>
              </a:rPr>
              <a:t>")</a:t>
            </a:r>
            <a:endParaRPr lang="en-IN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Use </a:t>
            </a:r>
            <a:r>
              <a:rPr lang="en-IN" sz="2000" dirty="0" err="1"/>
              <a:t>Qiskit</a:t>
            </a:r>
            <a:r>
              <a:rPr lang="en-IN" sz="2000" dirty="0"/>
              <a:t> Aer simulator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Execute with </a:t>
            </a:r>
            <a:r>
              <a:rPr lang="en-IN" sz="2000" dirty="0">
                <a:latin typeface="Courier New" panose="02070309020205020404" pitchFamily="49" charset="0"/>
              </a:rPr>
              <a:t>shots=1</a:t>
            </a:r>
            <a:r>
              <a:rPr lang="en-IN" sz="2000" dirty="0"/>
              <a:t> for a </a:t>
            </a:r>
            <a:r>
              <a:rPr lang="en-IN" sz="2000" b="1" dirty="0"/>
              <a:t>single random number</a:t>
            </a:r>
            <a:endParaRPr lang="en-IN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Convert measured bitstring (like "010") to integer (2) and return it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Another function: </a:t>
            </a:r>
            <a:r>
              <a:rPr lang="en-IN" sz="2000" dirty="0" err="1">
                <a:latin typeface="Courier New" panose="02070309020205020404" pitchFamily="49" charset="0"/>
              </a:rPr>
              <a:t>run_qrng_stats</a:t>
            </a:r>
            <a:r>
              <a:rPr lang="en-IN" sz="2000" dirty="0">
                <a:latin typeface="Courier New" panose="02070309020205020404" pitchFamily="49" charset="0"/>
              </a:rPr>
              <a:t>(</a:t>
            </a:r>
            <a:r>
              <a:rPr lang="en-IN" sz="2000" dirty="0" err="1">
                <a:latin typeface="Courier New" panose="02070309020205020404" pitchFamily="49" charset="0"/>
              </a:rPr>
              <a:t>num_qubits</a:t>
            </a:r>
            <a:r>
              <a:rPr lang="en-IN" sz="2000" dirty="0">
                <a:latin typeface="Courier New" panose="02070309020205020404" pitchFamily="49" charset="0"/>
              </a:rPr>
              <a:t>=3, shots=1024)</a:t>
            </a:r>
            <a:endParaRPr lang="en-IN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Return counts dictionary and simple stats</a:t>
            </a:r>
          </a:p>
        </p:txBody>
      </p:sp>
    </p:spTree>
    <p:extLst>
      <p:ext uri="{BB962C8B-B14F-4D97-AF65-F5344CB8AC3E}">
        <p14:creationId xmlns:p14="http://schemas.microsoft.com/office/powerpoint/2010/main" val="1911582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17D5F6-0177-2DEA-EA3E-0163EB439A63}"/>
              </a:ext>
            </a:extLst>
          </p:cNvPr>
          <p:cNvSpPr txBox="1"/>
          <p:nvPr/>
        </p:nvSpPr>
        <p:spPr>
          <a:xfrm>
            <a:off x="391886" y="132193"/>
            <a:ext cx="114082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analysis.py</a:t>
            </a:r>
            <a:r>
              <a:rPr lang="en-US" b="1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Functions to calculate: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Expected ideal probability (= 1 / 2^num_qubits)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Difference between observed and ideal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Simple fairness score.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ECB66A-B7DC-3EA9-9DDF-B8165D0226D7}"/>
              </a:ext>
            </a:extLst>
          </p:cNvPr>
          <p:cNvSpPr txBox="1"/>
          <p:nvPr/>
        </p:nvSpPr>
        <p:spPr>
          <a:xfrm>
            <a:off x="511629" y="1707492"/>
            <a:ext cx="11408228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# </a:t>
            </a:r>
            <a:r>
              <a:rPr lang="en-US" sz="2000" dirty="0" err="1"/>
              <a:t>qiskit</a:t>
            </a:r>
            <a:r>
              <a:rPr lang="en-US" sz="2000" dirty="0"/>
              <a:t>-true-</a:t>
            </a:r>
            <a:r>
              <a:rPr lang="en-US" sz="2000" dirty="0" err="1"/>
              <a:t>qrng</a:t>
            </a:r>
            <a:r>
              <a:rPr lang="en-US" sz="2000" dirty="0"/>
              <a:t>-</a:t>
            </a:r>
            <a:r>
              <a:rPr lang="en-US" sz="2000" dirty="0" err="1"/>
              <a:t>sachin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## Quantum Random Number Generator (QRNG) with Fairness and Noise Analysis</a:t>
            </a:r>
          </a:p>
          <a:p>
            <a:endParaRPr lang="en-US" sz="2000" dirty="0"/>
          </a:p>
          <a:p>
            <a:r>
              <a:rPr lang="en-US" sz="2000" dirty="0"/>
              <a:t>This repository contains my Hackathon 2025 project: a **Quantum Random Number Generator (QRNG)** implemented in **</a:t>
            </a:r>
            <a:r>
              <a:rPr lang="en-US" sz="2000" dirty="0" err="1"/>
              <a:t>Qiskit</a:t>
            </a:r>
            <a:r>
              <a:rPr lang="en-US" sz="2000" dirty="0"/>
              <a:t>**. The main goal is to generate numbers that are **truly random due to quantum mechanics**, and not just pseudo-random numbers coming from classical algorithms.</a:t>
            </a:r>
          </a:p>
          <a:p>
            <a:endParaRPr lang="en-US" sz="2000" dirty="0"/>
          </a:p>
          <a:p>
            <a:r>
              <a:rPr lang="en-US" sz="2000" dirty="0"/>
              <a:t>Classical random number generators are usually **deterministic**: if you know the algorithm and the seed, you can, in principle, predict their outputs. In contrast, a quantum measurement on a superposition state is **fundamentally probabilistic**. This project exploits that property.</a:t>
            </a:r>
          </a:p>
          <a:p>
            <a:endParaRPr lang="en-US" sz="2000" dirty="0"/>
          </a:p>
          <a:p>
            <a:r>
              <a:rPr lang="en-US" sz="2000" dirty="0"/>
              <a:t>Here, qubits are prepared in **equal superposition using Hadamard (H) gates**, and then measured. The **measured bitstring is used directly** as the random outcome, without applying any additional classical `.random()` function on the results. That means the randomness comes only from the quantum measurement process.</a:t>
            </a:r>
          </a:p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17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5F39DE-E2DF-845E-1420-2BA452AAE5DC}"/>
              </a:ext>
            </a:extLst>
          </p:cNvPr>
          <p:cNvSpPr txBox="1"/>
          <p:nvPr/>
        </p:nvSpPr>
        <p:spPr>
          <a:xfrm>
            <a:off x="685800" y="360632"/>
            <a:ext cx="10820399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## Hackathon Idea and Goals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project is built around four main ideas: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**True QRNG core**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- Build a quantum circuit where all computational basis states have (ideally) equal probability.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- Use the raw measurement bitstrings as random outcomes.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**Configurable system size**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- Allow the user to select the number of qubits.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- Use `n` qubits to generate integers in the range `[0, 2^n - 1]`.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**Fairness and distribution checks**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- Run the circuit with multiple shots.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-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Analyse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how close the observed distribution is to the ideal uniform distribution.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**Noise and error investigation**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- Use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Qiskit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Aer noise models to see how noise affects randomness.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- Compare “ideal” simulation vs “noisy” simulation and discuss error-mitigation ideas.</a:t>
            </a:r>
          </a:p>
        </p:txBody>
      </p:sp>
    </p:spTree>
    <p:extLst>
      <p:ext uri="{BB962C8B-B14F-4D97-AF65-F5344CB8AC3E}">
        <p14:creationId xmlns:p14="http://schemas.microsoft.com/office/powerpoint/2010/main" val="1710895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011787-6468-A2F4-6BE3-79C5A8261C62}"/>
              </a:ext>
            </a:extLst>
          </p:cNvPr>
          <p:cNvSpPr txBox="1"/>
          <p:nvPr/>
        </p:nvSpPr>
        <p:spPr>
          <a:xfrm>
            <a:off x="315686" y="320772"/>
            <a:ext cx="1124494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## Core QRNG Concept</a:t>
            </a:r>
          </a:p>
          <a:p>
            <a:endParaRPr lang="en-US" dirty="0"/>
          </a:p>
          <a:p>
            <a:r>
              <a:rPr lang="en-US" dirty="0"/>
              <a:t>1. Start with `n` qubits in the state \|0…0⟩.  </a:t>
            </a:r>
          </a:p>
          <a:p>
            <a:r>
              <a:rPr lang="en-US" dirty="0"/>
              <a:t>2. Apply a Hadamard gate `H` to each qubit to create a uniform superposition over all `2^n` basis states.  </a:t>
            </a:r>
          </a:p>
          <a:p>
            <a:r>
              <a:rPr lang="en-US" dirty="0"/>
              <a:t>3. Measure all qubits in the computational basis.  </a:t>
            </a:r>
          </a:p>
          <a:p>
            <a:r>
              <a:rPr lang="en-US" dirty="0"/>
              <a:t>4. Convert the resulting bitstring (e.g. `"101"`) to an integer (e.g. `5`).  </a:t>
            </a:r>
          </a:p>
          <a:p>
            <a:endParaRPr lang="en-US" dirty="0"/>
          </a:p>
          <a:p>
            <a:r>
              <a:rPr lang="en-US" dirty="0"/>
              <a:t>In the **single-shot mode**, each execution of the circuit returns **one** quantum random number.  </a:t>
            </a:r>
          </a:p>
          <a:p>
            <a:r>
              <a:rPr lang="en-US" dirty="0"/>
              <a:t>In the **multi-shot mode**, we collect a large sample of results and </a:t>
            </a:r>
            <a:r>
              <a:rPr lang="en-US" dirty="0" err="1"/>
              <a:t>analyse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- How often each bitstring appears  </a:t>
            </a:r>
          </a:p>
          <a:p>
            <a:r>
              <a:rPr lang="en-US" dirty="0"/>
              <a:t>- Whether the distribution looks uniform  </a:t>
            </a:r>
          </a:p>
          <a:p>
            <a:r>
              <a:rPr lang="en-US" dirty="0"/>
              <a:t>- How noise changes the distribution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4046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957344-D5C9-2CD8-95E3-275CC7A7503A}"/>
              </a:ext>
            </a:extLst>
          </p:cNvPr>
          <p:cNvSpPr txBox="1"/>
          <p:nvPr/>
        </p:nvSpPr>
        <p:spPr>
          <a:xfrm>
            <a:off x="685800" y="543342"/>
            <a:ext cx="10820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## Project Structure</a:t>
            </a:r>
          </a:p>
          <a:p>
            <a:endParaRPr lang="en-IN" dirty="0"/>
          </a:p>
          <a:p>
            <a:r>
              <a:rPr lang="en-IN" dirty="0"/>
              <a:t>```text</a:t>
            </a:r>
          </a:p>
          <a:p>
            <a:r>
              <a:rPr lang="en-IN" dirty="0" err="1"/>
              <a:t>qiskit</a:t>
            </a:r>
            <a:r>
              <a:rPr lang="en-IN" dirty="0"/>
              <a:t>-true-</a:t>
            </a:r>
            <a:r>
              <a:rPr lang="en-IN" dirty="0" err="1"/>
              <a:t>qrng</a:t>
            </a:r>
            <a:r>
              <a:rPr lang="en-IN" dirty="0"/>
              <a:t>-</a:t>
            </a:r>
            <a:r>
              <a:rPr lang="en-IN" dirty="0" err="1"/>
              <a:t>sachin</a:t>
            </a:r>
            <a:r>
              <a:rPr lang="en-IN" dirty="0"/>
              <a:t>/</a:t>
            </a:r>
          </a:p>
          <a:p>
            <a:r>
              <a:rPr lang="en-IN" dirty="0"/>
              <a:t>├── README.md              # Project documentation (this file)</a:t>
            </a:r>
          </a:p>
          <a:p>
            <a:r>
              <a:rPr lang="en-IN" dirty="0"/>
              <a:t>├── requirements.txt       # Python dependencies</a:t>
            </a:r>
          </a:p>
          <a:p>
            <a:r>
              <a:rPr lang="en-IN" dirty="0"/>
              <a:t>├── LICENSE                # MIT License (optional)</a:t>
            </a:r>
          </a:p>
          <a:p>
            <a:r>
              <a:rPr lang="en-IN" dirty="0"/>
              <a:t>├── </a:t>
            </a:r>
            <a:r>
              <a:rPr lang="en-IN" dirty="0" err="1"/>
              <a:t>qrng</a:t>
            </a:r>
            <a:r>
              <a:rPr lang="en-IN" dirty="0"/>
              <a:t>/</a:t>
            </a:r>
          </a:p>
          <a:p>
            <a:r>
              <a:rPr lang="en-IN" dirty="0"/>
              <a:t>│   ├── __init__.py        # Package initializer</a:t>
            </a:r>
          </a:p>
          <a:p>
            <a:r>
              <a:rPr lang="en-IN" dirty="0"/>
              <a:t>│   ├── circuit.py         # QRNG circuit construction</a:t>
            </a:r>
          </a:p>
          <a:p>
            <a:r>
              <a:rPr lang="en-IN" dirty="0"/>
              <a:t>│   ├── runner.py          # High-level functions to run the QRNG</a:t>
            </a:r>
          </a:p>
          <a:p>
            <a:r>
              <a:rPr lang="en-IN" dirty="0"/>
              <a:t>│   └── analysis.py        # Fairness and distribution analysis utilities</a:t>
            </a:r>
          </a:p>
          <a:p>
            <a:r>
              <a:rPr lang="en-IN" dirty="0"/>
              <a:t>└── examples/</a:t>
            </a:r>
          </a:p>
          <a:p>
            <a:r>
              <a:rPr lang="en-IN" dirty="0"/>
              <a:t>    └── demo_qrng.py       # Example script demonstrating usage</a:t>
            </a:r>
          </a:p>
        </p:txBody>
      </p:sp>
    </p:spTree>
    <p:extLst>
      <p:ext uri="{BB962C8B-B14F-4D97-AF65-F5344CB8AC3E}">
        <p14:creationId xmlns:p14="http://schemas.microsoft.com/office/powerpoint/2010/main" val="2648230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0A27A1-8F17-D9D2-EF6E-27936B8EA28F}"/>
              </a:ext>
            </a:extLst>
          </p:cNvPr>
          <p:cNvSpPr txBox="1"/>
          <p:nvPr/>
        </p:nvSpPr>
        <p:spPr>
          <a:xfrm>
            <a:off x="576942" y="0"/>
            <a:ext cx="11615058" cy="6507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/>
              <a:t> Features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True quantum randomness</a:t>
            </a:r>
            <a:br>
              <a:rPr lang="en-US" sz="2000" dirty="0"/>
            </a:br>
            <a:r>
              <a:rPr lang="en-US" sz="2000" dirty="0"/>
              <a:t>The random numbers are generated </a:t>
            </a:r>
            <a:r>
              <a:rPr lang="en-US" sz="2000" i="1" dirty="0"/>
              <a:t>directly</a:t>
            </a:r>
            <a:r>
              <a:rPr lang="en-US" sz="2000" dirty="0"/>
              <a:t> from quantum measurement results. There is </a:t>
            </a:r>
            <a:r>
              <a:rPr lang="en-US" sz="2000" b="1" dirty="0"/>
              <a:t>no classical </a:t>
            </a:r>
            <a:r>
              <a:rPr lang="en-US" sz="2000" b="1" dirty="0">
                <a:latin typeface="Courier New" panose="02070309020205020404" pitchFamily="49" charset="0"/>
              </a:rPr>
              <a:t>.random()</a:t>
            </a:r>
            <a:r>
              <a:rPr lang="en-US" sz="2000" dirty="0"/>
              <a:t> step that chooses among outcomes.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Configurable qubits</a:t>
            </a:r>
            <a:endParaRPr lang="en-US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Choose </a:t>
            </a:r>
            <a:r>
              <a:rPr lang="en-US" sz="2000" dirty="0" err="1">
                <a:latin typeface="Courier New" panose="02070309020205020404" pitchFamily="49" charset="0"/>
              </a:rPr>
              <a:t>num_qubits</a:t>
            </a:r>
            <a:r>
              <a:rPr lang="en-US" sz="2000" dirty="0"/>
              <a:t> depending on how many bits of randomness you need.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Courier New" panose="02070309020205020404" pitchFamily="49" charset="0"/>
              </a:rPr>
              <a:t>num_qubits</a:t>
            </a:r>
            <a:r>
              <a:rPr lang="en-US" sz="2000" dirty="0">
                <a:latin typeface="Courier New" panose="02070309020205020404" pitchFamily="49" charset="0"/>
              </a:rPr>
              <a:t> = 3</a:t>
            </a:r>
            <a:r>
              <a:rPr lang="en-US" sz="2000" dirty="0"/>
              <a:t> → integers from 0 to 7.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Single-shot and multi-shot modes</a:t>
            </a:r>
            <a:endParaRPr lang="en-US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Single-shot: get one random integer per execution.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Multi-shot: get a distribution over all possible outcomes.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Fairness metrics</a:t>
            </a:r>
            <a:endParaRPr lang="en-US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Compute frequencies of bitstrings.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Compare with the ideal uniform distribution.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Calculate a simple chi-square–like score to quantify deviation.</a:t>
            </a:r>
          </a:p>
        </p:txBody>
      </p:sp>
    </p:spTree>
    <p:extLst>
      <p:ext uri="{BB962C8B-B14F-4D97-AF65-F5344CB8AC3E}">
        <p14:creationId xmlns:p14="http://schemas.microsoft.com/office/powerpoint/2010/main" val="451756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81EA9E-D348-23D7-E82A-D7B3DD0F96BD}"/>
              </a:ext>
            </a:extLst>
          </p:cNvPr>
          <p:cNvSpPr txBox="1"/>
          <p:nvPr/>
        </p:nvSpPr>
        <p:spPr>
          <a:xfrm>
            <a:off x="664028" y="834909"/>
            <a:ext cx="11070771" cy="28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/>
              <a:t>1. Generate a single quantum random number</a:t>
            </a:r>
          </a:p>
          <a:p>
            <a:pPr rtl="0">
              <a:lnSpc>
                <a:spcPct val="150000"/>
              </a:lnSpc>
              <a:buNone/>
            </a:pPr>
            <a:r>
              <a:rPr lang="en-IN" sz="2000" dirty="0">
                <a:latin typeface="Courier New" panose="02070309020205020404" pitchFamily="49" charset="0"/>
              </a:rPr>
              <a:t>from </a:t>
            </a:r>
            <a:r>
              <a:rPr lang="en-IN" sz="2000" dirty="0" err="1">
                <a:latin typeface="Courier New" panose="02070309020205020404" pitchFamily="49" charset="0"/>
              </a:rPr>
              <a:t>qrng.runner</a:t>
            </a:r>
            <a:r>
              <a:rPr lang="en-IN" sz="2000" dirty="0">
                <a:latin typeface="Courier New" panose="02070309020205020404" pitchFamily="49" charset="0"/>
              </a:rPr>
              <a:t> import </a:t>
            </a:r>
            <a:r>
              <a:rPr lang="en-IN" sz="2000" dirty="0" err="1">
                <a:latin typeface="Courier New" panose="02070309020205020404" pitchFamily="49" charset="0"/>
              </a:rPr>
              <a:t>run_qrng</a:t>
            </a:r>
            <a:endParaRPr lang="en-IN" sz="2000" dirty="0">
              <a:latin typeface="Courier New" panose="02070309020205020404" pitchFamily="49" charset="0"/>
            </a:endParaRPr>
          </a:p>
          <a:p>
            <a:pPr rtl="0">
              <a:lnSpc>
                <a:spcPct val="150000"/>
              </a:lnSpc>
              <a:buNone/>
            </a:pPr>
            <a:endParaRPr lang="en-IN" sz="2000" dirty="0">
              <a:latin typeface="Courier New" panose="02070309020205020404" pitchFamily="49" charset="0"/>
            </a:endParaRPr>
          </a:p>
          <a:p>
            <a:pPr rtl="0">
              <a:lnSpc>
                <a:spcPct val="150000"/>
              </a:lnSpc>
              <a:buNone/>
            </a:pPr>
            <a:r>
              <a:rPr lang="en-IN" sz="2000" dirty="0">
                <a:latin typeface="Courier New" panose="02070309020205020404" pitchFamily="49" charset="0"/>
              </a:rPr>
              <a:t>number = </a:t>
            </a:r>
            <a:r>
              <a:rPr lang="en-IN" sz="2000" dirty="0" err="1">
                <a:latin typeface="Courier New" panose="02070309020205020404" pitchFamily="49" charset="0"/>
              </a:rPr>
              <a:t>run_qrng</a:t>
            </a:r>
            <a:r>
              <a:rPr lang="en-IN" sz="2000" dirty="0">
                <a:latin typeface="Courier New" panose="02070309020205020404" pitchFamily="49" charset="0"/>
              </a:rPr>
              <a:t>(</a:t>
            </a:r>
            <a:r>
              <a:rPr lang="en-IN" sz="2000" dirty="0" err="1">
                <a:latin typeface="Courier New" panose="02070309020205020404" pitchFamily="49" charset="0"/>
              </a:rPr>
              <a:t>num_qubits</a:t>
            </a:r>
            <a:r>
              <a:rPr lang="en-IN" sz="2000" dirty="0">
                <a:latin typeface="Courier New" panose="02070309020205020404" pitchFamily="49" charset="0"/>
              </a:rPr>
              <a:t>=3)</a:t>
            </a:r>
          </a:p>
          <a:p>
            <a:pPr rtl="0">
              <a:lnSpc>
                <a:spcPct val="150000"/>
              </a:lnSpc>
              <a:buNone/>
            </a:pPr>
            <a:r>
              <a:rPr lang="en-IN" sz="2000" dirty="0">
                <a:latin typeface="Courier New" panose="02070309020205020404" pitchFamily="49" charset="0"/>
              </a:rPr>
              <a:t>print("Quantum random number:", number)</a:t>
            </a:r>
          </a:p>
          <a:p>
            <a:pPr>
              <a:lnSpc>
                <a:spcPct val="150000"/>
              </a:lnSpc>
              <a:buNone/>
            </a:pPr>
            <a:r>
              <a:rPr lang="en-IN" sz="2000" dirty="0"/>
              <a:t>This returns an integer between </a:t>
            </a:r>
            <a:r>
              <a:rPr lang="en-IN" sz="2000" dirty="0">
                <a:latin typeface="Courier New" panose="02070309020205020404" pitchFamily="49" charset="0"/>
              </a:rPr>
              <a:t>0</a:t>
            </a:r>
            <a:r>
              <a:rPr lang="en-IN" sz="2000" dirty="0"/>
              <a:t> and </a:t>
            </a:r>
            <a:r>
              <a:rPr lang="en-IN" sz="2000" dirty="0">
                <a:latin typeface="Courier New" panose="02070309020205020404" pitchFamily="49" charset="0"/>
              </a:rPr>
              <a:t>7</a:t>
            </a:r>
            <a:r>
              <a:rPr lang="en-IN" sz="2000" dirty="0"/>
              <a:t> (inclusive), directly derived from quantum measurement.</a:t>
            </a:r>
          </a:p>
        </p:txBody>
      </p:sp>
    </p:spTree>
    <p:extLst>
      <p:ext uri="{BB962C8B-B14F-4D97-AF65-F5344CB8AC3E}">
        <p14:creationId xmlns:p14="http://schemas.microsoft.com/office/powerpoint/2010/main" val="1383034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2EF3FB-279C-51B4-2388-D8C09223EDAB}"/>
              </a:ext>
            </a:extLst>
          </p:cNvPr>
          <p:cNvSpPr txBox="1"/>
          <p:nvPr/>
        </p:nvSpPr>
        <p:spPr>
          <a:xfrm>
            <a:off x="658585" y="448386"/>
            <a:ext cx="10874829" cy="5132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/>
              <a:t>Generate many samples and see the distribution</a:t>
            </a:r>
          </a:p>
          <a:p>
            <a:pPr rtl="0">
              <a:lnSpc>
                <a:spcPct val="150000"/>
              </a:lnSpc>
              <a:buNone/>
            </a:pPr>
            <a:r>
              <a:rPr lang="en-IN" sz="2000" dirty="0">
                <a:latin typeface="Courier New" panose="02070309020205020404" pitchFamily="49" charset="0"/>
              </a:rPr>
              <a:t>from </a:t>
            </a:r>
            <a:r>
              <a:rPr lang="en-IN" sz="2000" dirty="0" err="1">
                <a:latin typeface="Courier New" panose="02070309020205020404" pitchFamily="49" charset="0"/>
              </a:rPr>
              <a:t>qrng.runner</a:t>
            </a:r>
            <a:r>
              <a:rPr lang="en-IN" sz="2000" dirty="0">
                <a:latin typeface="Courier New" panose="02070309020205020404" pitchFamily="49" charset="0"/>
              </a:rPr>
              <a:t> import </a:t>
            </a:r>
            <a:r>
              <a:rPr lang="en-IN" sz="2000" dirty="0" err="1">
                <a:latin typeface="Courier New" panose="02070309020205020404" pitchFamily="49" charset="0"/>
              </a:rPr>
              <a:t>run_qrng_distribution</a:t>
            </a:r>
            <a:endParaRPr lang="en-IN" sz="2000" dirty="0">
              <a:latin typeface="Courier New" panose="02070309020205020404" pitchFamily="49" charset="0"/>
            </a:endParaRPr>
          </a:p>
          <a:p>
            <a:pPr rtl="0">
              <a:lnSpc>
                <a:spcPct val="150000"/>
              </a:lnSpc>
              <a:buNone/>
            </a:pPr>
            <a:endParaRPr lang="en-IN" sz="2000" dirty="0">
              <a:latin typeface="Courier New" panose="02070309020205020404" pitchFamily="49" charset="0"/>
            </a:endParaRPr>
          </a:p>
          <a:p>
            <a:pPr rtl="0">
              <a:lnSpc>
                <a:spcPct val="150000"/>
              </a:lnSpc>
              <a:buNone/>
            </a:pPr>
            <a:r>
              <a:rPr lang="en-IN" sz="2000" dirty="0">
                <a:latin typeface="Courier New" panose="02070309020205020404" pitchFamily="49" charset="0"/>
              </a:rPr>
              <a:t>counts = </a:t>
            </a:r>
            <a:r>
              <a:rPr lang="en-IN" sz="2000" dirty="0" err="1">
                <a:latin typeface="Courier New" panose="02070309020205020404" pitchFamily="49" charset="0"/>
              </a:rPr>
              <a:t>run_qrng_distribution</a:t>
            </a:r>
            <a:r>
              <a:rPr lang="en-IN" sz="2000" dirty="0">
                <a:latin typeface="Courier New" panose="02070309020205020404" pitchFamily="49" charset="0"/>
              </a:rPr>
              <a:t>(</a:t>
            </a:r>
            <a:r>
              <a:rPr lang="en-IN" sz="2000" dirty="0" err="1">
                <a:latin typeface="Courier New" panose="02070309020205020404" pitchFamily="49" charset="0"/>
              </a:rPr>
              <a:t>num_qubits</a:t>
            </a:r>
            <a:r>
              <a:rPr lang="en-IN" sz="2000" dirty="0">
                <a:latin typeface="Courier New" panose="02070309020205020404" pitchFamily="49" charset="0"/>
              </a:rPr>
              <a:t>=3, shots=1024)</a:t>
            </a:r>
          </a:p>
          <a:p>
            <a:pPr rtl="0">
              <a:lnSpc>
                <a:spcPct val="150000"/>
              </a:lnSpc>
              <a:buNone/>
            </a:pPr>
            <a:r>
              <a:rPr lang="en-IN" sz="2000" dirty="0">
                <a:latin typeface="Courier New" panose="02070309020205020404" pitchFamily="49" charset="0"/>
              </a:rPr>
              <a:t>print("Measurement counts:", counts)</a:t>
            </a:r>
          </a:p>
          <a:p>
            <a:pPr>
              <a:lnSpc>
                <a:spcPct val="150000"/>
              </a:lnSpc>
              <a:buNone/>
            </a:pPr>
            <a:r>
              <a:rPr lang="en-IN" sz="2000" dirty="0"/>
              <a:t>You can then analyse fairness:</a:t>
            </a:r>
          </a:p>
          <a:p>
            <a:pPr rtl="0">
              <a:lnSpc>
                <a:spcPct val="150000"/>
              </a:lnSpc>
              <a:buNone/>
            </a:pPr>
            <a:r>
              <a:rPr lang="en-IN" sz="2000" dirty="0">
                <a:latin typeface="Courier New" panose="02070309020205020404" pitchFamily="49" charset="0"/>
              </a:rPr>
              <a:t>from </a:t>
            </a:r>
            <a:r>
              <a:rPr lang="en-IN" sz="2000" dirty="0" err="1">
                <a:latin typeface="Courier New" panose="02070309020205020404" pitchFamily="49" charset="0"/>
              </a:rPr>
              <a:t>qrng.analysis</a:t>
            </a:r>
            <a:r>
              <a:rPr lang="en-IN" sz="2000" dirty="0">
                <a:latin typeface="Courier New" panose="02070309020205020404" pitchFamily="49" charset="0"/>
              </a:rPr>
              <a:t> import </a:t>
            </a:r>
            <a:r>
              <a:rPr lang="en-IN" sz="2000" dirty="0" err="1">
                <a:latin typeface="Courier New" panose="02070309020205020404" pitchFamily="49" charset="0"/>
              </a:rPr>
              <a:t>describe_counts</a:t>
            </a:r>
            <a:r>
              <a:rPr lang="en-IN" sz="2000" dirty="0">
                <a:latin typeface="Courier New" panose="02070309020205020404" pitchFamily="49" charset="0"/>
              </a:rPr>
              <a:t>, </a:t>
            </a:r>
            <a:r>
              <a:rPr lang="en-IN" sz="2000" dirty="0" err="1">
                <a:latin typeface="Courier New" panose="02070309020205020404" pitchFamily="49" charset="0"/>
              </a:rPr>
              <a:t>chi_square_uniform</a:t>
            </a:r>
            <a:endParaRPr lang="en-IN" sz="2000" dirty="0">
              <a:latin typeface="Courier New" panose="02070309020205020404" pitchFamily="49" charset="0"/>
            </a:endParaRPr>
          </a:p>
          <a:p>
            <a:pPr rtl="0">
              <a:lnSpc>
                <a:spcPct val="150000"/>
              </a:lnSpc>
              <a:buNone/>
            </a:pPr>
            <a:endParaRPr lang="en-IN" sz="2000" dirty="0">
              <a:latin typeface="Courier New" panose="02070309020205020404" pitchFamily="49" charset="0"/>
            </a:endParaRPr>
          </a:p>
          <a:p>
            <a:pPr rtl="0">
              <a:lnSpc>
                <a:spcPct val="150000"/>
              </a:lnSpc>
              <a:buNone/>
            </a:pPr>
            <a:r>
              <a:rPr lang="en-IN" sz="2000" dirty="0" err="1">
                <a:latin typeface="Courier New" panose="02070309020205020404" pitchFamily="49" charset="0"/>
              </a:rPr>
              <a:t>describe_counts</a:t>
            </a:r>
            <a:r>
              <a:rPr lang="en-IN" sz="2000" dirty="0">
                <a:latin typeface="Courier New" panose="02070309020205020404" pitchFamily="49" charset="0"/>
              </a:rPr>
              <a:t>(counts)</a:t>
            </a:r>
          </a:p>
          <a:p>
            <a:pPr rtl="0">
              <a:lnSpc>
                <a:spcPct val="150000"/>
              </a:lnSpc>
              <a:buNone/>
            </a:pPr>
            <a:r>
              <a:rPr lang="en-IN" sz="2000" dirty="0">
                <a:latin typeface="Courier New" panose="02070309020205020404" pitchFamily="49" charset="0"/>
              </a:rPr>
              <a:t>score = </a:t>
            </a:r>
            <a:r>
              <a:rPr lang="en-IN" sz="2000" dirty="0" err="1">
                <a:latin typeface="Courier New" panose="02070309020205020404" pitchFamily="49" charset="0"/>
              </a:rPr>
              <a:t>chi_square_uniform</a:t>
            </a:r>
            <a:r>
              <a:rPr lang="en-IN" sz="2000" dirty="0">
                <a:latin typeface="Courier New" panose="02070309020205020404" pitchFamily="49" charset="0"/>
              </a:rPr>
              <a:t>(counts)</a:t>
            </a:r>
          </a:p>
          <a:p>
            <a:pPr rtl="0">
              <a:lnSpc>
                <a:spcPct val="150000"/>
              </a:lnSpc>
              <a:buNone/>
            </a:pPr>
            <a:r>
              <a:rPr lang="en-IN" sz="2000" dirty="0">
                <a:latin typeface="Courier New" panose="02070309020205020404" pitchFamily="49" charset="0"/>
              </a:rPr>
              <a:t>print("Chi-square score vs uniform:", score)</a:t>
            </a:r>
          </a:p>
        </p:txBody>
      </p:sp>
    </p:spTree>
    <p:extLst>
      <p:ext uri="{BB962C8B-B14F-4D97-AF65-F5344CB8AC3E}">
        <p14:creationId xmlns:p14="http://schemas.microsoft.com/office/powerpoint/2010/main" val="3245772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ECA87D-0C7C-BB4C-31A7-1E0CD6A68906}"/>
              </a:ext>
            </a:extLst>
          </p:cNvPr>
          <p:cNvSpPr txBox="1"/>
          <p:nvPr/>
        </p:nvSpPr>
        <p:spPr>
          <a:xfrm>
            <a:off x="783769" y="-111600"/>
            <a:ext cx="11092543" cy="69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/>
              <a:t>Compare ideal vs noisy simulation</a:t>
            </a:r>
          </a:p>
          <a:p>
            <a:pPr rtl="0">
              <a:lnSpc>
                <a:spcPct val="150000"/>
              </a:lnSpc>
              <a:buNone/>
            </a:pPr>
            <a:r>
              <a:rPr lang="en-IN" sz="2000" dirty="0">
                <a:latin typeface="Courier New" panose="02070309020205020404" pitchFamily="49" charset="0"/>
              </a:rPr>
              <a:t>from </a:t>
            </a:r>
            <a:r>
              <a:rPr lang="en-IN" sz="2000" dirty="0" err="1">
                <a:latin typeface="Courier New" panose="02070309020205020404" pitchFamily="49" charset="0"/>
              </a:rPr>
              <a:t>qrng.runner</a:t>
            </a:r>
            <a:r>
              <a:rPr lang="en-IN" sz="2000" dirty="0">
                <a:latin typeface="Courier New" panose="02070309020205020404" pitchFamily="49" charset="0"/>
              </a:rPr>
              <a:t> import </a:t>
            </a:r>
            <a:r>
              <a:rPr lang="en-IN" sz="2000" dirty="0" err="1">
                <a:latin typeface="Courier New" panose="02070309020205020404" pitchFamily="49" charset="0"/>
              </a:rPr>
              <a:t>run_qrng_distribution</a:t>
            </a:r>
            <a:endParaRPr lang="en-IN" sz="2000" dirty="0">
              <a:latin typeface="Courier New" panose="02070309020205020404" pitchFamily="49" charset="0"/>
            </a:endParaRPr>
          </a:p>
          <a:p>
            <a:pPr rtl="0">
              <a:lnSpc>
                <a:spcPct val="150000"/>
              </a:lnSpc>
              <a:buNone/>
            </a:pPr>
            <a:r>
              <a:rPr lang="en-IN" sz="2000" dirty="0">
                <a:latin typeface="Courier New" panose="02070309020205020404" pitchFamily="49" charset="0"/>
              </a:rPr>
              <a:t>from </a:t>
            </a:r>
            <a:r>
              <a:rPr lang="en-IN" sz="2000" dirty="0" err="1">
                <a:latin typeface="Courier New" panose="02070309020205020404" pitchFamily="49" charset="0"/>
              </a:rPr>
              <a:t>qrng.analysis</a:t>
            </a:r>
            <a:r>
              <a:rPr lang="en-IN" sz="2000" dirty="0">
                <a:latin typeface="Courier New" panose="02070309020205020404" pitchFamily="49" charset="0"/>
              </a:rPr>
              <a:t> import </a:t>
            </a:r>
            <a:r>
              <a:rPr lang="en-IN" sz="2000" dirty="0" err="1">
                <a:latin typeface="Courier New" panose="02070309020205020404" pitchFamily="49" charset="0"/>
              </a:rPr>
              <a:t>compare_ideal_vs_noisy</a:t>
            </a:r>
            <a:endParaRPr lang="en-IN" sz="2000" dirty="0">
              <a:latin typeface="Courier New" panose="02070309020205020404" pitchFamily="49" charset="0"/>
            </a:endParaRPr>
          </a:p>
          <a:p>
            <a:pPr rtl="0">
              <a:lnSpc>
                <a:spcPct val="150000"/>
              </a:lnSpc>
              <a:buNone/>
            </a:pPr>
            <a:endParaRPr lang="en-IN" sz="2000" dirty="0">
              <a:latin typeface="Courier New" panose="02070309020205020404" pitchFamily="49" charset="0"/>
            </a:endParaRPr>
          </a:p>
          <a:p>
            <a:pPr rtl="0">
              <a:lnSpc>
                <a:spcPct val="150000"/>
              </a:lnSpc>
              <a:buNone/>
            </a:pPr>
            <a:r>
              <a:rPr lang="en-IN" sz="2000" dirty="0" err="1">
                <a:latin typeface="Courier New" panose="02070309020205020404" pitchFamily="49" charset="0"/>
              </a:rPr>
              <a:t>ideal_counts</a:t>
            </a:r>
            <a:r>
              <a:rPr lang="en-IN" sz="2000" dirty="0">
                <a:latin typeface="Courier New" panose="02070309020205020404" pitchFamily="49" charset="0"/>
              </a:rPr>
              <a:t>, </a:t>
            </a:r>
            <a:r>
              <a:rPr lang="en-IN" sz="2000" dirty="0" err="1">
                <a:latin typeface="Courier New" panose="02070309020205020404" pitchFamily="49" charset="0"/>
              </a:rPr>
              <a:t>noisy_counts</a:t>
            </a:r>
            <a:r>
              <a:rPr lang="en-IN" sz="2000" dirty="0">
                <a:latin typeface="Courier New" panose="02070309020205020404" pitchFamily="49" charset="0"/>
              </a:rPr>
              <a:t> = </a:t>
            </a:r>
            <a:r>
              <a:rPr lang="en-IN" sz="2000" dirty="0" err="1">
                <a:latin typeface="Courier New" panose="02070309020205020404" pitchFamily="49" charset="0"/>
              </a:rPr>
              <a:t>compare_ideal_vs_noisy</a:t>
            </a:r>
            <a:r>
              <a:rPr lang="en-IN" sz="2000" dirty="0">
                <a:latin typeface="Courier New" panose="02070309020205020404" pitchFamily="49" charset="0"/>
              </a:rPr>
              <a:t>(</a:t>
            </a:r>
          </a:p>
          <a:p>
            <a:pPr rtl="0">
              <a:lnSpc>
                <a:spcPct val="150000"/>
              </a:lnSpc>
              <a:buNone/>
            </a:pPr>
            <a:r>
              <a:rPr lang="en-IN" sz="2000" dirty="0">
                <a:latin typeface="Courier New" panose="02070309020205020404" pitchFamily="49" charset="0"/>
              </a:rPr>
              <a:t>    </a:t>
            </a:r>
            <a:r>
              <a:rPr lang="en-IN" sz="2000" dirty="0" err="1">
                <a:latin typeface="Courier New" panose="02070309020205020404" pitchFamily="49" charset="0"/>
              </a:rPr>
              <a:t>num_qubits</a:t>
            </a:r>
            <a:r>
              <a:rPr lang="en-IN" sz="2000" dirty="0">
                <a:latin typeface="Courier New" panose="02070309020205020404" pitchFamily="49" charset="0"/>
              </a:rPr>
              <a:t>=3,</a:t>
            </a:r>
          </a:p>
          <a:p>
            <a:pPr rtl="0">
              <a:lnSpc>
                <a:spcPct val="150000"/>
              </a:lnSpc>
              <a:buNone/>
            </a:pPr>
            <a:r>
              <a:rPr lang="en-IN" sz="2000" dirty="0">
                <a:latin typeface="Courier New" panose="02070309020205020404" pitchFamily="49" charset="0"/>
              </a:rPr>
              <a:t>    shots=2048,</a:t>
            </a:r>
          </a:p>
          <a:p>
            <a:pPr rtl="0">
              <a:lnSpc>
                <a:spcPct val="150000"/>
              </a:lnSpc>
              <a:buNone/>
            </a:pPr>
            <a:r>
              <a:rPr lang="en-IN" sz="2000" dirty="0">
                <a:latin typeface="Courier New" panose="02070309020205020404" pitchFamily="49" charset="0"/>
              </a:rPr>
              <a:t>    </a:t>
            </a:r>
            <a:r>
              <a:rPr lang="en-IN" sz="2000" dirty="0" err="1">
                <a:latin typeface="Courier New" panose="02070309020205020404" pitchFamily="49" charset="0"/>
              </a:rPr>
              <a:t>single_qubit_error</a:t>
            </a:r>
            <a:r>
              <a:rPr lang="en-IN" sz="2000" dirty="0">
                <a:latin typeface="Courier New" panose="02070309020205020404" pitchFamily="49" charset="0"/>
              </a:rPr>
              <a:t>=0.01,</a:t>
            </a:r>
          </a:p>
          <a:p>
            <a:pPr rtl="0">
              <a:lnSpc>
                <a:spcPct val="150000"/>
              </a:lnSpc>
              <a:buNone/>
            </a:pPr>
            <a:r>
              <a:rPr lang="en-IN" sz="2000" dirty="0">
                <a:latin typeface="Courier New" panose="02070309020205020404" pitchFamily="49" charset="0"/>
              </a:rPr>
              <a:t>    </a:t>
            </a:r>
            <a:r>
              <a:rPr lang="en-IN" sz="2000" dirty="0" err="1">
                <a:latin typeface="Courier New" panose="02070309020205020404" pitchFamily="49" charset="0"/>
              </a:rPr>
              <a:t>two_qubit_error</a:t>
            </a:r>
            <a:r>
              <a:rPr lang="en-IN" sz="2000" dirty="0">
                <a:latin typeface="Courier New" panose="02070309020205020404" pitchFamily="49" charset="0"/>
              </a:rPr>
              <a:t>=0.02</a:t>
            </a:r>
          </a:p>
          <a:p>
            <a:pPr rtl="0">
              <a:lnSpc>
                <a:spcPct val="150000"/>
              </a:lnSpc>
              <a:buNone/>
            </a:pPr>
            <a:r>
              <a:rPr lang="en-IN" sz="2000" dirty="0">
                <a:latin typeface="Courier New" panose="02070309020205020404" pitchFamily="49" charset="0"/>
              </a:rPr>
              <a:t>)</a:t>
            </a:r>
          </a:p>
          <a:p>
            <a:pPr rtl="0">
              <a:lnSpc>
                <a:spcPct val="150000"/>
              </a:lnSpc>
              <a:buNone/>
            </a:pPr>
            <a:endParaRPr lang="en-IN" sz="2000" dirty="0">
              <a:latin typeface="Courier New" panose="02070309020205020404" pitchFamily="49" charset="0"/>
            </a:endParaRPr>
          </a:p>
          <a:p>
            <a:pPr rtl="0">
              <a:lnSpc>
                <a:spcPct val="150000"/>
              </a:lnSpc>
              <a:buNone/>
            </a:pPr>
            <a:r>
              <a:rPr lang="en-IN" sz="2000" dirty="0">
                <a:latin typeface="Courier New" panose="02070309020205020404" pitchFamily="49" charset="0"/>
              </a:rPr>
              <a:t>print("Ideal:", </a:t>
            </a:r>
            <a:r>
              <a:rPr lang="en-IN" sz="2000" dirty="0" err="1">
                <a:latin typeface="Courier New" panose="02070309020205020404" pitchFamily="49" charset="0"/>
              </a:rPr>
              <a:t>ideal_counts</a:t>
            </a:r>
            <a:r>
              <a:rPr lang="en-IN" sz="2000" dirty="0">
                <a:latin typeface="Courier New" panose="02070309020205020404" pitchFamily="49" charset="0"/>
              </a:rPr>
              <a:t>)</a:t>
            </a:r>
          </a:p>
          <a:p>
            <a:pPr rtl="0">
              <a:lnSpc>
                <a:spcPct val="150000"/>
              </a:lnSpc>
              <a:buNone/>
            </a:pPr>
            <a:r>
              <a:rPr lang="en-IN" sz="2000" dirty="0">
                <a:latin typeface="Courier New" panose="02070309020205020404" pitchFamily="49" charset="0"/>
              </a:rPr>
              <a:t>print("Noisy:", </a:t>
            </a:r>
            <a:r>
              <a:rPr lang="en-IN" sz="2000" dirty="0" err="1">
                <a:latin typeface="Courier New" panose="02070309020205020404" pitchFamily="49" charset="0"/>
              </a:rPr>
              <a:t>noisy_counts</a:t>
            </a:r>
            <a:r>
              <a:rPr lang="en-IN" sz="2000" dirty="0"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IN" sz="2000" dirty="0"/>
              <a:t>This illustrates how noise makes the distribution slightly biased, and opens the door to basic error-mitigation discussions.</a:t>
            </a:r>
          </a:p>
        </p:txBody>
      </p:sp>
    </p:spTree>
    <p:extLst>
      <p:ext uri="{BB962C8B-B14F-4D97-AF65-F5344CB8AC3E}">
        <p14:creationId xmlns:p14="http://schemas.microsoft.com/office/powerpoint/2010/main" val="3734619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1438</Words>
  <Application>Microsoft Office PowerPoint</Application>
  <PresentationFormat>Widescreen</PresentationFormat>
  <Paragraphs>133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Pisore</dc:creator>
  <cp:lastModifiedBy>Sachin Pisore</cp:lastModifiedBy>
  <cp:revision>2</cp:revision>
  <dcterms:created xsi:type="dcterms:W3CDTF">2025-11-17T18:38:33Z</dcterms:created>
  <dcterms:modified xsi:type="dcterms:W3CDTF">2025-11-17T18:53:07Z</dcterms:modified>
</cp:coreProperties>
</file>